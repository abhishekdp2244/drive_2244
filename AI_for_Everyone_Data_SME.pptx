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gain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Pipeline
Development</c:v>
                  </c:pt>
                  <c:pt idx="1">
                    <c:v>Data Quality
Incidents</c:v>
                  </c:pt>
                  <c:pt idx="2">
                    <c:v>Migration &amp;
Modernization</c:v>
                  </c:pt>
                  <c:pt idx="3">
                    <c:v>Time-to-
Insight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70</c:v>
                </c:pt>
                <c:pt idx="2">
                  <c:v>45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F4A1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&amp; Generative AI for the Data SME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faster, smarter, and safer with AI agents across the data engineering lifecycle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for Data SMEs, business &amp; management stakeholders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Market Evidence Edition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1965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momentum behind agentic AI in data engineering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9900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2971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vs Agentic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3192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every SME needs to explain to stakeholders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160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142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Fits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4897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lifecycle map across pipelines, quality, governance &amp; consumption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533095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53126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in Depth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56601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concrete places AI agents change daily SME work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81965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from the Field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148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enterprise results — real numbers, real caveats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862072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9900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32320" y="2971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Governance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3192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credible view — not just the upside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032504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4160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32320" y="4142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Role, Evolved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44897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executor to orchestrator: a maturity path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5202936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533095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32320" y="53126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56601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first-90-days action plan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fastest-moving shift analysts are tracking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will embed task-specific AI agents by end of 2026 — up from &lt;5% today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engineering workflows projected to be automated by AI agents by 2029, where context &amp; semantics exist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have actually deployed agents today — momentum is real, but maturity is early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$202B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9260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2026 spend on agentic AI — growing 141% year over year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Gartner, “Top Predictions for Data and Analytics in 2026” (Mar 2026); Gartner CIO Survey 2026; Gartner AI spending forecast (2026)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vs. Agentic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content when asked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Responds to a single prompt at a time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Produces text, code, SQL, docs on request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96849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drives every step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53542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“Write a SQL query for last month's churn”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350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acts, and adapts toward a goal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Breaks a goal into multiple steps autonomously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340156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 tools: queries data, runs checks, calls other systems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396849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Operates with human oversight, not constant direction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453542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“Monitor this pipeline, diagnose failures, propose a fix”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engineering lifecycle, with AI overlaid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56816" cy="2468880"/>
          </a:xfrm>
          <a:prstGeom prst="roundRect">
            <a:avLst>
              <a:gd name="adj" fmla="val 3738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3774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/ ETL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227832"/>
            <a:ext cx="265176" cy="219456"/>
          </a:xfrm>
          <a:prstGeom prst="rightArrow">
            <a:avLst/>
          </a:prstGeom>
          <a:solidFill>
            <a:srgbClr val="9AA7B5"/>
          </a:solidFill>
          <a:ln/>
        </p:spPr>
      </p:sp>
      <p:sp>
        <p:nvSpPr>
          <p:cNvPr id="10" name="Shape 8"/>
          <p:cNvSpPr/>
          <p:nvPr/>
        </p:nvSpPr>
        <p:spPr>
          <a:xfrm>
            <a:off x="2825496" y="2103120"/>
            <a:ext cx="1956816" cy="2468880"/>
          </a:xfrm>
          <a:prstGeom prst="roundRect">
            <a:avLst>
              <a:gd name="adj" fmla="val 3738"/>
            </a:avLst>
          </a:prstGeom>
          <a:solidFill>
            <a:srgbClr val="13315C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2377440"/>
            <a:ext cx="585216" cy="585216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16936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16936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observability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3227832"/>
            <a:ext cx="265176" cy="219456"/>
          </a:xfrm>
          <a:prstGeom prst="rightArrow">
            <a:avLst/>
          </a:prstGeom>
          <a:solidFill>
            <a:srgbClr val="9AA7B5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2103120"/>
            <a:ext cx="1956816" cy="2468880"/>
          </a:xfrm>
          <a:prstGeom prst="roundRect">
            <a:avLst>
              <a:gd name="adj" fmla="val 3738"/>
            </a:avLst>
          </a:prstGeom>
          <a:solidFill>
            <a:srgbClr val="0B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88152" y="23774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78815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93792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93792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agents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86600" y="3227832"/>
            <a:ext cx="265176" cy="219456"/>
          </a:xfrm>
          <a:prstGeom prst="rightArrow">
            <a:avLst/>
          </a:prstGeom>
          <a:solidFill>
            <a:srgbClr val="9AA7B5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9208" y="2103120"/>
            <a:ext cx="1956816" cy="2468880"/>
          </a:xfrm>
          <a:prstGeom prst="roundRect">
            <a:avLst>
              <a:gd name="adj" fmla="val 3738"/>
            </a:avLst>
          </a:prstGeom>
          <a:solidFill>
            <a:srgbClr val="1331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065008" y="2377440"/>
            <a:ext cx="585216" cy="585216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70648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70648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63456" y="3227832"/>
            <a:ext cx="265176" cy="219456"/>
          </a:xfrm>
          <a:prstGeom prst="rightArrow">
            <a:avLst/>
          </a:prstGeom>
          <a:solidFill>
            <a:srgbClr val="9AA7B5"/>
          </a:solidFill>
          <a:ln/>
        </p:spPr>
      </p:sp>
      <p:sp>
        <p:nvSpPr>
          <p:cNvPr id="28" name="Shape 26"/>
          <p:cNvSpPr/>
          <p:nvPr/>
        </p:nvSpPr>
        <p:spPr>
          <a:xfrm>
            <a:off x="9656064" y="2103120"/>
            <a:ext cx="1956816" cy="2468880"/>
          </a:xfrm>
          <a:prstGeom prst="roundRect">
            <a:avLst>
              <a:gd name="adj" fmla="val 3738"/>
            </a:avLst>
          </a:prstGeom>
          <a:solidFill>
            <a:srgbClr val="0B254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41864" y="23774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0341864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47504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47504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query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lineage tracking, and incident response run underneath all five stages.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75% of data engineering workflows automated by agents by 2029 — conditional on context &amp; semantics being in place.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ETL generation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9384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author, maintain and troubleshoot pipelines from natural-language prompts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87752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generate PySpark, dataflows, and transformation logic directly in-platform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SMEs from writing boilerplate so they can focus on logic and edge cases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Copilot  ·  Databricks Lakeflow  ·  Google BigQuery Data Engineering Agent  ·  Ascend.io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pipeline development reported across industry benchmarks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observability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9384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agents recommend rules and thresholds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87752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agents test hundreds of hypotheses in parallel to find root cause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quality work from reactive firefighting to agent-assisted triage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Observability Agents  ·  Anomalo  ·  Acceldata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mean time to resolution (Monte Carlo)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cataloging &amp; metadata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9384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data discovery replaces manual catalog searches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87752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auto-enrich metadata and run governance/quality checks continuously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agent-to-agent (A2A) protocols let governance agents talk across platforms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CLAIRE GPT  ·  Atlan  ·  Snowflake Cortex integrations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using CLAIRE GPT for governed data discovery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mapping &amp; legacy modernization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9384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translate legacy ETL logic across platforms in hours instead of weeks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87752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code-translation phases compress dramatically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shifts from manual recoding to reviewing and validating agent output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Migrator (via Xebia)  ·  Zensar ZenseAI  ·  Matillion Maia Migration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30-60%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and 2–4x speed-up typical in modernization projects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to SQL &amp; conversational query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9384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query data directly in plain English — no SQL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87752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shift from writing every query to designing and validating semantic models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access while raising the importance of well-governed metadata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Analyst  ·  Databricks AI/BI Genie  ·  dbt Copilot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time-to-insight at Parcel Perform (2.3 days → ~10 minutes)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Documentation, lineage &amp; incident response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9384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auto-generate docs, tests, and semantic models from pipeline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87752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tracking becomes continuous rather than a periodic clean-up exercise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on-call agents triage incidents and draft root-cause reports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Copilot &amp; dbt Wizard  ·  AWS DevOps Agent  ·  Fabric Copilot summaries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data-quality tickets at Webmotors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FROM THE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organizations, quantified results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6479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Perform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130552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agent on AWS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532888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faster time-to-insight (2.3 days → ~10 min)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76479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Webmotors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8848" y="2130552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AI/BI Genie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98848" y="2532888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fewer manual data tickets YoY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47888" y="176479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7888" y="2130552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Assistant + Genie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47888" y="2532888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40–50% more efficient data analysis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86791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Inc.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233672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AI/BI Genie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4636008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generated up to 10x faster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3703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386791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Finance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98848" y="4233672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98848" y="4636008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processing time cut by two-thirds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703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47888" y="386791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Choozle (via Monte Carlo)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47888" y="4233672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observability agents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47888" y="4636008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reduction in overall data downtime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AWS Machine Learning Blog (Jul 2025); Databricks customer stories (2025); Microsoft customer stories (2025); Monte Carlo (2025). Figures are vendor/customer-reported.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productivity gains by lifecycle stage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680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600200"/>
            <a:ext cx="3108960" cy="4480560"/>
          </a:xfrm>
          <a:prstGeom prst="roundRect">
            <a:avLst>
              <a:gd name="adj" fmla="val 2941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NECESSARY CAUTION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732520" y="224028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2025 randomized study (METR) found experienced developers were actually 19% slower with AI tools on complex tasks — despite predicting a 24% speedup.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732520" y="416052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figures here are vendor-reported. Validate on your own workflows before scaling.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balanced view: what can go wrong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Higher-stakes hallucination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hallucinates, it can trigger unauthorized changes or data loss — not just a wrong chat answer.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74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attacks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13432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projects over 50% of successful attacks on AI agents through 2029 will exploit access-control gaps.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690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foundations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507992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fail most often where lineage, ownership, and definitions are unclear — the #1 driver of failed pilots.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690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cancellations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507992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forecasts over 40% of agentic AI projects will be cancelled by end of 2027 due to unclear value or weak governance.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(Jun 2025, Jul 2026); Databricks AI Security Framework v3.0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SAFE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human-in-the-loop to human-on-the-loop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of thumb for granting agents autonomy: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128016" cy="1051560"/>
          </a:xfrm>
          <a:prstGeom prst="roundRect">
            <a:avLst/>
          </a:prstGeom>
          <a:solidFill>
            <a:srgbClr val="2C7A5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&amp; low-risk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221284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query, doc generation, quality-rule suggestions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0" y="221284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acts, human spot-checks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337560"/>
            <a:ext cx="128016" cy="1051560"/>
          </a:xfrm>
          <a:prstGeom prst="roundRect">
            <a:avLst/>
          </a:prstGeom>
          <a:solidFill>
            <a:srgbClr val="C77F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4728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&amp; medium-risk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44728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 changes, schema-mapping proposals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344728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proposes, human approves before merge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72000"/>
            <a:ext cx="128016" cy="1051560"/>
          </a:xfrm>
          <a:prstGeom prst="roundRect">
            <a:avLst/>
          </a:prstGeom>
          <a:solidFill>
            <a:srgbClr val="B23A4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8172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or high-risk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468172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deletion, production config, financial transactions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468172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+ audit trail required, always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to know: Databricks AI Security Framework (DASF v3.0) — 97 risks, 73 controls for agentic systems.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ROLE, EVOLVED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SME maturity ladder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0"/>
            <a:ext cx="252603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8646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539496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Executor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94710" y="4251960"/>
            <a:ext cx="2526030" cy="1691640"/>
          </a:xfrm>
          <a:prstGeom prst="roundRect">
            <a:avLst>
              <a:gd name="adj" fmla="val 324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531870" y="436168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31870" y="489204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0780" y="3749040"/>
            <a:ext cx="2526030" cy="2194560"/>
          </a:xfrm>
          <a:prstGeom prst="roundRect">
            <a:avLst>
              <a:gd name="adj" fmla="val 2500"/>
            </a:avLst>
          </a:prstGeom>
          <a:solidFill>
            <a:srgbClr val="C77F00"/>
          </a:solidFill>
          <a:ln/>
        </p:spPr>
      </p:sp>
      <p:sp>
        <p:nvSpPr>
          <p:cNvPr id="11" name="Text 9"/>
          <p:cNvSpPr/>
          <p:nvPr/>
        </p:nvSpPr>
        <p:spPr>
          <a:xfrm>
            <a:off x="6377940" y="38587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77940" y="438912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Supervisor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7940" y="4846320"/>
            <a:ext cx="225171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approves agent-generated pipelines and fixes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86850" y="3246120"/>
            <a:ext cx="2526030" cy="2697480"/>
          </a:xfrm>
          <a:prstGeom prst="roundRect">
            <a:avLst>
              <a:gd name="adj" fmla="val 2172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9224010" y="33558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24010" y="3886200"/>
            <a:ext cx="22517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24010" y="4343400"/>
            <a:ext cx="225171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monitors &amp; governs multi-agent workflows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2526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Hand-writes SQL, pipelines, docs and tests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94710" y="5989320"/>
            <a:ext cx="2526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copilots for SQL/docs/tests; reviews every 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Deloitte: roles shift from execution to supervision and orchestration of agent-driven workflows.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today's leading agentic tools sit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&amp; 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Fabric Copilot, Databricks Lakeflow, BigQuery Data Engineering Agent, Ascend.io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&amp; Observability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 Observability Agents, Anomalo, Acceldata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&amp;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 CLAIRE GPT, Atlan, Snowflake Cortex integrations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&amp; Modernization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Matillion Maia, Databricks Migrator, Zensar ZenseAI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/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Cortex Analyst &amp; Cortex Code, Databricks AI/BI Genie, dbt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started: your first 90 days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low-risk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31343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NL-to-SQL, auto-documentation, and quality-rule suggestions — assistive, reversible tasks.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foundation first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31343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lineage, metadata, and clear ownership before granting agents more autonomy.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023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autonomy rules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446227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agents may do unsupervised vs. what always needs human approval and an audit trail.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4023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 your workflows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446227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vendor benchmarks alone — pilot and measure actual time saved on your own tasks.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Everyone  |  Agentic &amp; Generative AI for the Data SME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Augmentation, not replacement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moves your role from executor to orchestrator — that's leverage, not a threat.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45643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 decides the ceiling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85876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metadata and governance determine whether agents help or hurt — fix these first.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 w="12700">
            <a:solidFill>
              <a:srgbClr val="2445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07492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87375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govern always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527608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low-risk, reversible use cases; keep human approval mandatory for anything irreversible.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F4A1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own workflow would an AI agent earn its keep first?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31750">
            <a:solidFill>
              <a:srgbClr val="F4A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AI for Everyone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Data SME Enablement Session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for Everyone</dc:creator>
  <cp:lastModifiedBy>AI for Everyone</cp:lastModifiedBy>
  <cp:revision>1</cp:revision>
  <dcterms:created xsi:type="dcterms:W3CDTF">2026-07-27T09:40:38Z</dcterms:created>
  <dcterms:modified xsi:type="dcterms:W3CDTF">2026-07-27T09:40:38Z</dcterms:modified>
</cp:coreProperties>
</file>